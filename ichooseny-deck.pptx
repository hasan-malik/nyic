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we say anything — listen. Go STRAIGHT into the 30-second real interview audio. Do not read the slide. Let it breathe, then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seconds. Names + the one promise: we didn't replace NYIC's message, we evolved it. Move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narrative shift. Usefulness only ever buys tolerance — you stay as long as you produce. We built a system where belonging is the premise, not the prize. This EVOLVES NYIC's 'we built New York'.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15-sec teaser. Say nothing during it. After: 'That's the feeling. Here's the machine that makes it scale.'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path of ONE story (Amina). Everything after the 5-min interview is automatic — and costs two 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NYIC serves all of New York — so do we. Click a glowing point, play a voice. Show Origins arcs converging on NYC.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story tagged across 8 dimensions, so the dashboard doubles as a live needs-assessment for advocacy &amp;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doors: tell your story as you, or under protection. We never trade safety for a testimonial. Directly answers NYIC's StoryCorps / UnLocal data-security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Collection is worthless if it sits in a database. Every day the system surfaces one story, ready to post / testify.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NYIC's own '40 Years, 40,000 Stories' vision, the whole AI pipeline costs under $850 — half a percent of one billboard campaign. One part-time coordinator + volunteers does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+ partnership story. This isn't a hack-week toy — it's deployable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memorized close. End on the tagline, then SILENCE. Don't keep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64224" y="1786509"/>
            <a:ext cx="5650992" cy="355930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k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3085"/>
            <a:ext cx="5577840" cy="3486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01384" y="1889378"/>
            <a:ext cx="5468112" cy="344500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5954"/>
            <a:ext cx="5394960" cy="33718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828800"/>
            <a:ext cx="164592" cy="155448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5669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0B429"/>
                </a:solidFill>
                <a:latin typeface="Montserrat"/>
              </a:rPr>
              <a:t>#IChooseNY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ontserrat"/>
              </a:rPr>
              <a:t>#IChooseYou</a:t>
            </a:r>
          </a:p>
          <a:p>
            <a:pPr algn="l">
              <a:lnSpc>
                <a:spcPct val="105000"/>
              </a:lnSpc>
            </a:pPr>
            <a:r>
              <a:rPr sz="2000" b="1">
                <a:solidFill>
                  <a:srgbClr val="C3CCEC"/>
                </a:solidFill>
                <a:latin typeface="Inter"/>
              </a:rPr>
              <a:t>Belonging isn't a transaction.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852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Inter"/>
              </a:rPr>
              <a:t>NYIC Social Impact Hackathon  · 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7665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3CCEC"/>
                </a:solidFill>
                <a:latin typeface="Inter"/>
              </a:rPr>
              <a:t>We listened to NYIC's narrative — then built its next chapter.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95247" y="2331720"/>
            <a:ext cx="1097280" cy="1097280"/>
          </a:xfrm>
          <a:prstGeom prst="ellipse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36118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[Name]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40233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492F"/>
                </a:solidFill>
                <a:latin typeface="Inter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4087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9887" y="2331720"/>
            <a:ext cx="1097280" cy="1097280"/>
          </a:xfrm>
          <a:prstGeom prst="ellipse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4087" y="36118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[Name]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4087" y="40233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492F"/>
                </a:solidFill>
                <a:latin typeface="Inter"/>
              </a:rP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64527" y="2331720"/>
            <a:ext cx="1097280" cy="1097280"/>
          </a:xfrm>
          <a:prstGeom prst="ellipse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36118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[Name]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0233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492F"/>
                </a:solidFill>
                <a:latin typeface="Inter"/>
              </a:rPr>
              <a:t>Data /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13367" y="201168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99167" y="2331720"/>
            <a:ext cx="1097280" cy="1097280"/>
          </a:xfrm>
          <a:prstGeom prst="ellipse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3367" y="36118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[Name]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3367" y="402336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0492F"/>
                </a:solidFill>
                <a:latin typeface="Inter"/>
              </a:rPr>
              <a:t>Storytelling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The question a system asks is a statement about what it thinks a person is </a:t>
            </a:r>
            <a:r>
              <a:rPr sz="2600" b="1">
                <a:solidFill>
                  <a:srgbClr val="F0B429"/>
                </a:solidFill>
                <a:latin typeface="Montserrat"/>
              </a:rPr>
              <a:t>for</a:t>
            </a:r>
            <a:r>
              <a:rPr sz="2600" b="1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4937760" cy="3108960"/>
          </a:xfrm>
          <a:prstGeom prst="rect">
            <a:avLst/>
          </a:prstGeom>
          <a:solidFill>
            <a:srgbClr val="0A1330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926080"/>
            <a:ext cx="4389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94A3B8"/>
                </a:solidFill>
                <a:latin typeface="Inter"/>
              </a:rPr>
              <a:t>Everyone else asks:</a:t>
            </a: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ontserrat"/>
              </a:rPr>
              <a:t>“What did you contribute?”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AEB9DC"/>
                </a:solidFill>
                <a:latin typeface="Inter"/>
              </a:rPr>
              <a:t>Usefulness only buys tolerance. You may stay as long as you produce.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651760"/>
            <a:ext cx="4937760" cy="3108960"/>
          </a:xfrm>
          <a:prstGeom prst="rect">
            <a:avLst/>
          </a:prstGeom>
          <a:solidFill>
            <a:srgbClr val="E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2926080"/>
            <a:ext cx="43891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D9CF"/>
                </a:solidFill>
                <a:latin typeface="Inter"/>
              </a:rPr>
              <a:t>We ask:</a:t>
            </a:r>
          </a:p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ontserrat"/>
              </a:rPr>
              <a:t>“What did you hold onto that you were told to give up?”</a:t>
            </a:r>
          </a:p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#IChooseYou — un-extractable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148840"/>
            <a:ext cx="5760720" cy="2560320"/>
          </a:xfrm>
          <a:prstGeom prst="rect">
            <a:avLst/>
          </a:prstGeom>
          <a:solidFill>
            <a:srgbClr val="0D1B4C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5400000">
            <a:off x="5806440" y="3063240"/>
            <a:ext cx="640080" cy="731520"/>
          </a:xfrm>
          <a:prstGeom prst="triangl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384048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ontserrat"/>
              </a:rPr>
              <a:t>15-second concept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Inter"/>
              </a:rPr>
              <a:t>Insert &gt; Video here in Google Slides / Canva  ·  file: ichooseny-teaser.mp4 (see HERO_VIDEO.md)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Journey of 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7665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3CCEC"/>
                </a:solidFill>
                <a:latin typeface="Inter"/>
              </a:rPr>
              <a:t>Five minutes of audio → a living archive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591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8591" y="2651760"/>
            <a:ext cx="1627632" cy="109728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friend → friend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647" y="292608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Montserrat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3967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3967" y="2651760"/>
            <a:ext cx="1627632" cy="109728"/>
          </a:xfrm>
          <a:prstGeom prst="rect">
            <a:avLst/>
          </a:prstGeom>
          <a:solidFill>
            <a:srgbClr val="E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3967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Transcribe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3967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ElevenLabs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5023" y="292608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Montserrat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9343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9343" y="2651760"/>
            <a:ext cx="1627632" cy="109728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9343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Care-check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9343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Claude Haiku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399" y="292608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Montserrat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4719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4719" y="2651760"/>
            <a:ext cx="1627632" cy="109728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719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4719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Claude Sonnet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5775" y="292608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Montserrat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0095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0095" y="2651760"/>
            <a:ext cx="1627632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0095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0095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1151" y="292608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Montserrat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45471" y="265176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45471" y="2651760"/>
            <a:ext cx="1627632" cy="109728"/>
          </a:xfrm>
          <a:prstGeom prst="rect">
            <a:avLst/>
          </a:prstGeom>
          <a:solidFill>
            <a:srgbClr val="E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45471" y="2880360"/>
            <a:ext cx="16276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1B4C"/>
                </a:solidFill>
                <a:latin typeface="Montserrat"/>
              </a:rPr>
              <a:t>Activate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5471" y="3429000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Inter"/>
              </a:rPr>
              <a:t>IG · Runway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4663440"/>
            <a:ext cx="121916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B4C"/>
                </a:solidFill>
                <a:latin typeface="Montserrat"/>
              </a:rPr>
              <a:t>One story. Two cents. Fully automatic after the interview.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334155"/>
                </a:solidFill>
                <a:latin typeface="Inter"/>
              </a:rPr>
              <a:t>A daughter interviews her mother for five minutes — everything after is the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A bank you can feel, not scroll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7665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3CCEC"/>
                </a:solidFill>
                <a:latin typeface="Inter"/>
              </a:rPr>
              <a:t>Threads (kinship) · Boroughs &amp; State-wide · 120+ origins → one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4" y="2003679"/>
            <a:ext cx="5833872" cy="367360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k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40255"/>
            <a:ext cx="5760720" cy="36004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18504" y="1583626"/>
            <a:ext cx="2862072" cy="1816227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ck-state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20202"/>
            <a:ext cx="2788920" cy="17430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18504" y="4235386"/>
            <a:ext cx="2862072" cy="1816227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ck-thre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271962"/>
            <a:ext cx="2788920" cy="1743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1234440"/>
            <a:ext cx="2651760" cy="5212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0B429"/>
                </a:solidFill>
                <a:latin typeface="Montserrat"/>
              </a:rPr>
              <a:t>Real maps.</a:t>
            </a:r>
          </a:p>
          <a:p>
            <a:pPr algn="l">
              <a:lnSpc>
                <a:spcPct val="108000"/>
              </a:lnSpc>
            </a:pPr>
            <a:r>
              <a:rPr sz="1250" b="0">
                <a:solidFill>
                  <a:srgbClr val="C3CCEC"/>
                </a:solidFill>
                <a:latin typeface="Inter"/>
              </a:rPr>
              <a:t>Dark CARTO / OpenStreetMap — open-source, the same stack pros use.</a:t>
            </a:r>
          </a:p>
          <a:p>
            <a:pPr algn="l">
              <a:lnSpc>
                <a:spcPct val="108000"/>
              </a:lnSpc>
            </a:pPr>
            <a:r>
              <a:rPr sz="6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800" b="1">
                <a:solidFill>
                  <a:srgbClr val="F0B429"/>
                </a:solidFill>
                <a:latin typeface="Montserrat"/>
              </a:rPr>
              <a:t>All of NY.</a:t>
            </a:r>
          </a:p>
          <a:p>
            <a:pPr algn="l">
              <a:lnSpc>
                <a:spcPct val="108000"/>
              </a:lnSpc>
            </a:pPr>
            <a:r>
              <a:rPr sz="1250" b="0">
                <a:solidFill>
                  <a:srgbClr val="C3CCEC"/>
                </a:solidFill>
                <a:latin typeface="Inter"/>
              </a:rPr>
              <a:t>Buffalo, Rochester, Long Island, the Hudson Valley — not just five boroughs.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The team's daily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7665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3CCEC"/>
                </a:solidFill>
                <a:latin typeface="Inter"/>
              </a:rPr>
              <a:t>Care-first review · live analytics · activation · cost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3" y="1197864"/>
            <a:ext cx="7388352" cy="533095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ck-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34440"/>
            <a:ext cx="7315200" cy="525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41080" y="1371600"/>
            <a:ext cx="3200400" cy="502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8 tag dimensions</a:t>
            </a:r>
          </a:p>
          <a:p>
            <a:pPr algn="l">
              <a:lnSpc>
                <a:spcPct val="108000"/>
              </a:lnSpc>
            </a:pPr>
            <a:r>
              <a:rPr sz="1250" b="0">
                <a:solidFill>
                  <a:srgbClr val="C3CCEC"/>
                </a:solidFill>
                <a:latin typeface="Inter"/>
              </a:rPr>
              <a:t>mood · theme · topic · struggle · cultural heritage · neighborhood · member org · life stage</a:t>
            </a:r>
          </a:p>
          <a:p>
            <a:pPr algn="l">
              <a:lnSpc>
                <a:spcPct val="108000"/>
              </a:lnSpc>
            </a:pPr>
            <a:r>
              <a:rPr sz="6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A live needs-assessment</a:t>
            </a:r>
          </a:p>
          <a:p>
            <a:pPr algn="l">
              <a:lnSpc>
                <a:spcPct val="108000"/>
              </a:lnSpc>
            </a:pPr>
            <a:r>
              <a:rPr sz="1250" b="0">
                <a:solidFill>
                  <a:srgbClr val="C3CCEC"/>
                </a:solidFill>
                <a:latin typeface="Inter"/>
              </a:rPr>
              <a:t>“Struggles named” + “Cultural heritage” charts turn stories into advocacy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People over data. Always.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554480"/>
            <a:ext cx="146304" cy="91440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9326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Granular consent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34155"/>
                </a:solidFill>
                <a:latin typeface="Inter"/>
              </a:rPr>
              <a:t>Name, pseudonym, or fully anonymous — chosen per 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724912"/>
            <a:ext cx="146304" cy="914400"/>
          </a:xfrm>
          <a:prstGeom prst="rect">
            <a:avLst/>
          </a:prstGeom>
          <a:solidFill>
            <a:srgbClr val="E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724912"/>
            <a:ext cx="9326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Voice protection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34155"/>
                </a:solidFill>
                <a:latin typeface="Inter"/>
              </a:rPr>
              <a:t>ElevenLabs voice-masking for narrators at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895344"/>
            <a:ext cx="146304" cy="91440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895344"/>
            <a:ext cx="9326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Care, not censorship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34155"/>
                </a:solidFill>
                <a:latin typeface="Inter"/>
              </a:rPr>
              <a:t>Claude Haiku flags trauma to a human — never auto-rejects.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5065776"/>
            <a:ext cx="146304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065776"/>
            <a:ext cx="9326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D1B4C"/>
                </a:solidFill>
                <a:latin typeface="Montserrat"/>
              </a:rPr>
              <a:t>Credit where due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34155"/>
                </a:solidFill>
                <a:latin typeface="Inter"/>
              </a:rPr>
              <a:t>Member-org attribution + role-based access for 200+ orgs.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4384" y="2563749"/>
            <a:ext cx="4187952" cy="264490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ck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600325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ontserrat"/>
              </a:rPr>
              <a:t>One story a day. A movement a year.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4937760" cy="1645920"/>
          </a:xfrm>
          <a:prstGeom prst="rect">
            <a:avLst/>
          </a:prstGeom>
          <a:solidFill>
            <a:srgbClr val="0A1330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128016" cy="16459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2316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Daily feature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C3CCEC"/>
                </a:solidFill>
                <a:latin typeface="Inter"/>
              </a:rPr>
              <a:t>The system surfaces one story a day, ready to post to Instagram + LinkedIn.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194560"/>
            <a:ext cx="4937760" cy="1645920"/>
          </a:xfrm>
          <a:prstGeom prst="rect">
            <a:avLst/>
          </a:prstGeom>
          <a:solidFill>
            <a:srgbClr val="0A1330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2194560"/>
            <a:ext cx="128016" cy="16459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2316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Runway animation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C3CCEC"/>
                </a:solidFill>
                <a:latin typeface="Inter"/>
              </a:rPr>
              <a:t>Anonymized voices become animated shorts — safe and shareable.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4937760" cy="1645920"/>
          </a:xfrm>
          <a:prstGeom prst="rect">
            <a:avLst/>
          </a:prstGeom>
          <a:solidFill>
            <a:srgbClr val="0A1330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128016" cy="16459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34340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Advocacy match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C3CCEC"/>
                </a:solidFill>
                <a:latin typeface="Inter"/>
              </a:rPr>
              <a:t>“A bill is moving” → instantly find consenting stories that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114800"/>
            <a:ext cx="4937760" cy="1645920"/>
          </a:xfrm>
          <a:prstGeom prst="rect">
            <a:avLst/>
          </a:prstGeom>
          <a:solidFill>
            <a:srgbClr val="0A1330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4114800"/>
            <a:ext cx="128016" cy="16459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0B429"/>
                </a:solidFill>
                <a:latin typeface="Montserrat"/>
              </a:rPr>
              <a:t>Viral loop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C3CCEC"/>
                </a:solidFill>
                <a:latin typeface="Inter"/>
              </a:rPr>
              <a:t>Every narrator nominates two friends. The bank grows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Impact &amp;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7665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3CCEC"/>
                </a:solidFill>
                <a:latin typeface="Inter"/>
              </a:rPr>
              <a:t>Built for a nonprofit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027" y="1371600"/>
            <a:ext cx="2468880" cy="1737360"/>
          </a:xfrm>
          <a:prstGeom prst="rect">
            <a:avLst/>
          </a:prstGeom>
          <a:solidFill>
            <a:srgbClr val="0D1B4C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027" y="150876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4D399"/>
                </a:solidFill>
                <a:latin typeface="Montserrat"/>
              </a:rPr>
              <a:t>3,700+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560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3CCEC"/>
                </a:solidFill>
                <a:latin typeface="Inter"/>
              </a:rPr>
              <a:t>stories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6947" y="1371600"/>
            <a:ext cx="2468880" cy="1737360"/>
          </a:xfrm>
          <a:prstGeom prst="rect">
            <a:avLst/>
          </a:prstGeom>
          <a:solidFill>
            <a:srgbClr val="0D1B4C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6947" y="150876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4D399"/>
                </a:solidFill>
                <a:latin typeface="Montserrat"/>
              </a:rPr>
              <a:t>120+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6947" y="2560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3CCEC"/>
                </a:solidFill>
                <a:latin typeface="Inter"/>
              </a:rPr>
              <a:t>countries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5867" y="1371600"/>
            <a:ext cx="2468880" cy="1737360"/>
          </a:xfrm>
          <a:prstGeom prst="rect">
            <a:avLst/>
          </a:prstGeom>
          <a:solidFill>
            <a:srgbClr val="0D1B4C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5867" y="150876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4D399"/>
                </a:solidFill>
                <a:latin typeface="Montserrat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2560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3CCEC"/>
                </a:solidFill>
                <a:latin typeface="Inter"/>
              </a:rPr>
              <a:t>languages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4787" y="1371600"/>
            <a:ext cx="2468880" cy="1737360"/>
          </a:xfrm>
          <a:prstGeom prst="rect">
            <a:avLst/>
          </a:prstGeom>
          <a:solidFill>
            <a:srgbClr val="0D1B4C"/>
          </a:solidFill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4787" y="150876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4D399"/>
                </a:solidFill>
                <a:latin typeface="Montserrat"/>
              </a:rPr>
              <a:t>~2.1¢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4787" y="25603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3CCEC"/>
                </a:solidFill>
                <a:latin typeface="Inter"/>
              </a:rPr>
              <a:t>per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4434" y="3346704"/>
            <a:ext cx="4335051" cy="313639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ck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010" y="3383280"/>
            <a:ext cx="4261899" cy="3063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0" y="3474720"/>
            <a:ext cx="3474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F0B429"/>
                </a:solidFill>
                <a:latin typeface="Montserrat"/>
              </a:rPr>
              <a:t>≈ $79</a:t>
            </a:r>
          </a:p>
          <a:p>
            <a:pPr algn="l">
              <a:lnSpc>
                <a:spcPct val="108000"/>
              </a:lnSpc>
            </a:pPr>
            <a:r>
              <a:rPr sz="1400" b="0">
                <a:solidFill>
                  <a:srgbClr val="C3CCEC"/>
                </a:solidFill>
                <a:latin typeface="Inter"/>
              </a:rPr>
              <a:t>to process the entire archive.</a:t>
            </a:r>
          </a:p>
          <a:p>
            <a:pPr algn="l">
              <a:lnSpc>
                <a:spcPct val="108000"/>
              </a:lnSpc>
            </a:pPr>
            <a:r>
              <a:rPr sz="800" b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$150,000 = one NY Proud campaign. We're a rounding error of that.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46304" cy="310896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7432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ontserrat"/>
              </a:rPr>
              <a:t>Deployable Monday — and built to last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73736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737360"/>
            <a:ext cx="128016" cy="141732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19" y="1938528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B4C"/>
                </a:solidFill>
                <a:latin typeface="Montserrat"/>
              </a:rPr>
              <a:t>Demo-proof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334155"/>
                </a:solidFill>
                <a:latin typeface="Inter"/>
              </a:rPr>
              <a:t>Runs offline-first on seeded data — no live API can break the pitch.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73736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128016" cy="1417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38528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B4C"/>
                </a:solidFill>
                <a:latin typeface="Montserrat"/>
              </a:rPr>
              <a:t>No vendor lock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334155"/>
                </a:solidFill>
                <a:latin typeface="Inter"/>
              </a:rPr>
              <a:t>Supabase + open-source Leaflet/OpenStreetMap maps.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47472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3474720"/>
            <a:ext cx="128016" cy="141732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19" y="3675887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B4C"/>
                </a:solidFill>
                <a:latin typeface="Montserrat"/>
              </a:rPr>
              <a:t>Volunteer-powered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334155"/>
                </a:solidFill>
                <a:latin typeface="Inter"/>
              </a:rPr>
              <a:t>Code-4-Good &amp; campus partners staff the recording booths.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474720"/>
            <a:ext cx="4754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474720"/>
            <a:ext cx="128016" cy="1417320"/>
          </a:xfrm>
          <a:prstGeom prst="rect">
            <a:avLst/>
          </a:prstGeom>
          <a:solidFill>
            <a:srgbClr val="E0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675887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D1B4C"/>
                </a:solidFill>
                <a:latin typeface="Montserrat"/>
              </a:rPr>
              <a:t>Coalition-native</a:t>
            </a:r>
          </a:p>
          <a:p>
            <a:pPr algn="l">
              <a:lnSpc>
                <a:spcPct val="105000"/>
              </a:lnSpc>
            </a:pPr>
            <a:r>
              <a:rPr sz="1350" b="0">
                <a:solidFill>
                  <a:srgbClr val="334155"/>
                </a:solidFill>
                <a:latin typeface="Inter"/>
              </a:rPr>
              <a:t>Every one of 200+ member orgs is credited and sees its own stories.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3949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Inter"/>
              </a:rPr>
              <a:t>4.5M immigrants served  ·  40 years  ·  a coalition of 200+ organizations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6343" y="3255264"/>
            <a:ext cx="5779007" cy="3639312"/>
          </a:xfrm>
          <a:prstGeom prst="rect">
            <a:avLst/>
          </a:prstGeom>
          <a:noFill/>
          <a:ln w="12700">
            <a:solidFill>
              <a:srgbClr val="2A3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ck-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919" y="3291840"/>
            <a:ext cx="5705855" cy="35661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rgbClr val="0D1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Montserrat"/>
              </a:rPr>
              <a:t>“We don't ask immigrants to prove they belong.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F0B429"/>
                </a:solidFill>
                <a:latin typeface="Montserrat"/>
              </a:rPr>
              <a:t>We ask them to choose us back.”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#IChooseNY   ·   #IChooseYou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4D399"/>
                </a:solidFill>
                <a:latin typeface="Inter"/>
              </a:rPr>
              <a:t>ichooseny.netlify.app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4572000"/>
            <a:ext cx="155448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4572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[ QR code
to site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